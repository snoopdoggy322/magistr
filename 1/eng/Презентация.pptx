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3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FDFC9-4F0A-4468-8B42-A7BBEA86C7E6}" type="datetimeFigureOut">
              <a:rPr lang="ru-RU" smtClean="0"/>
              <a:t>24.12.2020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DE3AA-FF26-4718-8994-5BFB0F80D5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3529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FDFC9-4F0A-4468-8B42-A7BBEA86C7E6}" type="datetimeFigureOut">
              <a:rPr lang="ru-RU" smtClean="0"/>
              <a:t>24.12.2020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DE3AA-FF26-4718-8994-5BFB0F80D5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4720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FDFC9-4F0A-4468-8B42-A7BBEA86C7E6}" type="datetimeFigureOut">
              <a:rPr lang="ru-RU" smtClean="0"/>
              <a:t>24.12.2020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DE3AA-FF26-4718-8994-5BFB0F80D5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3820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FDFC9-4F0A-4468-8B42-A7BBEA86C7E6}" type="datetimeFigureOut">
              <a:rPr lang="ru-RU" smtClean="0"/>
              <a:t>24.12.2020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DE3AA-FF26-4718-8994-5BFB0F80D5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2618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FDFC9-4F0A-4468-8B42-A7BBEA86C7E6}" type="datetimeFigureOut">
              <a:rPr lang="ru-RU" smtClean="0"/>
              <a:t>24.12.2020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DE3AA-FF26-4718-8994-5BFB0F80D5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9858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FDFC9-4F0A-4468-8B42-A7BBEA86C7E6}" type="datetimeFigureOut">
              <a:rPr lang="ru-RU" smtClean="0"/>
              <a:t>24.12.2020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DE3AA-FF26-4718-8994-5BFB0F80D5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4232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FDFC9-4F0A-4468-8B42-A7BBEA86C7E6}" type="datetimeFigureOut">
              <a:rPr lang="ru-RU" smtClean="0"/>
              <a:t>24.12.2020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DE3AA-FF26-4718-8994-5BFB0F80D5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1548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FDFC9-4F0A-4468-8B42-A7BBEA86C7E6}" type="datetimeFigureOut">
              <a:rPr lang="ru-RU" smtClean="0"/>
              <a:t>24.12.2020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DE3AA-FF26-4718-8994-5BFB0F80D5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8968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FDFC9-4F0A-4468-8B42-A7BBEA86C7E6}" type="datetimeFigureOut">
              <a:rPr lang="ru-RU" smtClean="0"/>
              <a:t>24.12.2020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DE3AA-FF26-4718-8994-5BFB0F80D5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6515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FDFC9-4F0A-4468-8B42-A7BBEA86C7E6}" type="datetimeFigureOut">
              <a:rPr lang="ru-RU" smtClean="0"/>
              <a:t>24.12.2020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DE3AA-FF26-4718-8994-5BFB0F80D5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734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FDFC9-4F0A-4468-8B42-A7BBEA86C7E6}" type="datetimeFigureOut">
              <a:rPr lang="ru-RU" smtClean="0"/>
              <a:t>24.12.2020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DE3AA-FF26-4718-8994-5BFB0F80D5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85926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FDFC9-4F0A-4468-8B42-A7BBEA86C7E6}" type="datetimeFigureOut">
              <a:rPr lang="ru-RU" smtClean="0"/>
              <a:t>24.12.2020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DE3AA-FF26-4718-8994-5BFB0F80D5D5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221858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FDFC9-4F0A-4468-8B42-A7BBEA86C7E6}" type="datetimeFigureOut">
              <a:rPr lang="ru-RU" smtClean="0"/>
              <a:t>24.12.2020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DE3AA-FF26-4718-8994-5BFB0F80D5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44308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FDFC9-4F0A-4468-8B42-A7BBEA86C7E6}" type="datetimeFigureOut">
              <a:rPr lang="ru-RU" smtClean="0"/>
              <a:t>24.12.2020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DE3AA-FF26-4718-8994-5BFB0F80D5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0273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FDFC9-4F0A-4468-8B42-A7BBEA86C7E6}" type="datetimeFigureOut">
              <a:rPr lang="ru-RU" smtClean="0"/>
              <a:t>24.12.2020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DE3AA-FF26-4718-8994-5BFB0F80D5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58400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FDFC9-4F0A-4468-8B42-A7BBEA86C7E6}" type="datetimeFigureOut">
              <a:rPr lang="ru-RU" smtClean="0"/>
              <a:t>24.12.2020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DE3AA-FF26-4718-8994-5BFB0F80D5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81764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FDFC9-4F0A-4468-8B42-A7BBEA86C7E6}" type="datetimeFigureOut">
              <a:rPr lang="ru-RU" smtClean="0"/>
              <a:t>24.12.2020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DE3AA-FF26-4718-8994-5BFB0F80D5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5278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7FDFC9-4F0A-4468-8B42-A7BBEA86C7E6}" type="datetimeFigureOut">
              <a:rPr lang="ru-RU" smtClean="0"/>
              <a:t>24.12.2020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3DE3AA-FF26-4718-8994-5BFB0F80D5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48443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atabase#Design_and_modeling" TargetMode="External"/><Relationship Id="rId2" Type="http://schemas.openxmlformats.org/officeDocument/2006/relationships/hyperlink" Target="https://en.wikipedia.org/wiki/Data_(computing)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794459" y="-1551389"/>
            <a:ext cx="9001462" cy="2387600"/>
          </a:xfrm>
        </p:spPr>
        <p:txBody>
          <a:bodyPr/>
          <a:lstStyle/>
          <a:p>
            <a:r>
              <a:rPr lang="en-US" dirty="0"/>
              <a:t>TYPES OF DATABASES</a:t>
            </a:r>
            <a:endParaRPr lang="ru-RU" dirty="0"/>
          </a:p>
        </p:txBody>
      </p:sp>
      <p:pic>
        <p:nvPicPr>
          <p:cNvPr id="1026" name="Picture 2" descr="Presto Is The Third Time Charm For Federated Database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0696" y="1019799"/>
            <a:ext cx="7671405" cy="5369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0452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1619851" y="2478028"/>
            <a:ext cx="4919846" cy="2337040"/>
          </a:xfrm>
        </p:spPr>
        <p:txBody>
          <a:bodyPr>
            <a:normAutofit/>
          </a:bodyPr>
          <a:lstStyle/>
          <a:p>
            <a:pPr marL="457200" indent="-457200">
              <a:buAutoNum type="arabicParenR"/>
            </a:pPr>
            <a:r>
              <a:rPr lang="en-US" dirty="0" smtClean="0">
                <a:effectLst/>
              </a:rPr>
              <a:t>What </a:t>
            </a:r>
            <a:r>
              <a:rPr lang="en-US" dirty="0">
                <a:effectLst/>
              </a:rPr>
              <a:t>is a database </a:t>
            </a:r>
            <a:endParaRPr lang="ru-RU" dirty="0" smtClean="0">
              <a:effectLst/>
            </a:endParaRPr>
          </a:p>
          <a:p>
            <a:pPr marL="457200" indent="-457200">
              <a:buAutoNum type="arabicParenR"/>
            </a:pPr>
            <a:r>
              <a:rPr lang="en-US" dirty="0" smtClean="0">
                <a:effectLst/>
              </a:rPr>
              <a:t>Identify </a:t>
            </a:r>
            <a:r>
              <a:rPr lang="en-US" dirty="0">
                <a:effectLst/>
              </a:rPr>
              <a:t>Types of databases (based on relationship of the data). </a:t>
            </a:r>
            <a:endParaRPr lang="ru-RU" dirty="0" smtClean="0">
              <a:effectLst/>
            </a:endParaRPr>
          </a:p>
          <a:p>
            <a:pPr marL="457200" indent="-457200">
              <a:buAutoNum type="arabicParenR"/>
            </a:pPr>
            <a:r>
              <a:rPr lang="en-US" dirty="0" smtClean="0">
                <a:effectLst/>
              </a:rPr>
              <a:t>How </a:t>
            </a:r>
            <a:r>
              <a:rPr lang="en-US" dirty="0">
                <a:effectLst/>
              </a:rPr>
              <a:t>to access the database</a:t>
            </a:r>
            <a:endParaRPr lang="ru-RU" dirty="0">
              <a:effectLst/>
            </a:endParaRPr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948519" y="181337"/>
            <a:ext cx="10353761" cy="1326321"/>
          </a:xfrm>
        </p:spPr>
        <p:txBody>
          <a:bodyPr/>
          <a:lstStyle/>
          <a:p>
            <a:r>
              <a:rPr lang="en-US" dirty="0" smtClean="0"/>
              <a:t>Objectives</a:t>
            </a:r>
            <a:endParaRPr lang="ru-RU" dirty="0"/>
          </a:p>
        </p:txBody>
      </p:sp>
      <p:pic>
        <p:nvPicPr>
          <p:cNvPr id="2051" name="Picture 3" descr="Database performance monitor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1474" y="1921397"/>
            <a:ext cx="2235361" cy="2893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4255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What is a </a:t>
            </a:r>
            <a:r>
              <a:rPr lang="en-US" dirty="0" smtClean="0">
                <a:effectLst/>
              </a:rPr>
              <a:t>database</a:t>
            </a:r>
            <a:r>
              <a:rPr lang="en-US" dirty="0">
                <a:effectLst/>
              </a:rPr>
              <a:t>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73478" y="2213714"/>
            <a:ext cx="4994078" cy="3494508"/>
          </a:xfrm>
        </p:spPr>
        <p:txBody>
          <a:bodyPr/>
          <a:lstStyle/>
          <a:p>
            <a:r>
              <a:rPr lang="en-US" dirty="0" smtClean="0">
                <a:effectLst/>
              </a:rPr>
              <a:t>Database</a:t>
            </a:r>
            <a:r>
              <a:rPr lang="en-US" dirty="0"/>
              <a:t> </a:t>
            </a:r>
            <a:r>
              <a:rPr lang="en-US" dirty="0" smtClean="0"/>
              <a:t>- </a:t>
            </a:r>
            <a:r>
              <a:rPr lang="en-US" dirty="0" smtClean="0">
                <a:effectLst/>
              </a:rPr>
              <a:t>organized </a:t>
            </a:r>
            <a:r>
              <a:rPr lang="en-US" dirty="0">
                <a:effectLst/>
              </a:rPr>
              <a:t>collection of </a:t>
            </a:r>
            <a:r>
              <a:rPr lang="en-US" dirty="0">
                <a:effectLst/>
                <a:hlinkClick r:id="rId2" tooltip="Data (computing)"/>
              </a:rPr>
              <a:t>data</a:t>
            </a:r>
            <a:r>
              <a:rPr lang="en-US" dirty="0">
                <a:effectLst/>
              </a:rPr>
              <a:t>, generally stored and accessed electronically from a computer system. Where databases are more complex they are often developed using formal </a:t>
            </a:r>
            <a:r>
              <a:rPr lang="en-US" dirty="0">
                <a:effectLst/>
                <a:hlinkClick r:id="rId3"/>
              </a:rPr>
              <a:t>design and modeling</a:t>
            </a:r>
            <a:r>
              <a:rPr lang="en-US" dirty="0">
                <a:effectLst/>
              </a:rPr>
              <a:t> techniques.</a:t>
            </a:r>
          </a:p>
        </p:txBody>
      </p:sp>
      <p:pic>
        <p:nvPicPr>
          <p:cNvPr id="3074" name="Picture 2" descr="What is a database? - Computer Business Review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689" y="1935921"/>
            <a:ext cx="5260595" cy="3286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577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</a:t>
            </a:r>
            <a:r>
              <a:rPr lang="en-US" dirty="0" smtClean="0"/>
              <a:t>databases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(</a:t>
            </a:r>
            <a:r>
              <a:rPr lang="en-US" dirty="0"/>
              <a:t>Data </a:t>
            </a:r>
            <a:r>
              <a:rPr lang="en-US" dirty="0" err="1" smtClean="0"/>
              <a:t>rerelationship</a:t>
            </a:r>
            <a:r>
              <a:rPr lang="ru-RU" dirty="0" smtClean="0"/>
              <a:t>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81905" y="2744246"/>
            <a:ext cx="3408667" cy="3695136"/>
          </a:xfrm>
        </p:spPr>
        <p:txBody>
          <a:bodyPr/>
          <a:lstStyle/>
          <a:p>
            <a:r>
              <a:rPr lang="ru-RU" dirty="0" err="1" smtClean="0">
                <a:effectLst/>
              </a:rPr>
              <a:t>Hierarchical</a:t>
            </a:r>
            <a:endParaRPr lang="en-US" dirty="0">
              <a:effectLst/>
            </a:endParaRPr>
          </a:p>
          <a:p>
            <a:r>
              <a:rPr lang="ru-RU" dirty="0" err="1">
                <a:effectLst/>
              </a:rPr>
              <a:t>Relational</a:t>
            </a:r>
            <a:r>
              <a:rPr lang="ru-RU" dirty="0">
                <a:effectLst/>
              </a:rPr>
              <a:t> </a:t>
            </a:r>
            <a:endParaRPr lang="en-US" dirty="0" smtClean="0">
              <a:effectLst/>
            </a:endParaRPr>
          </a:p>
          <a:p>
            <a:r>
              <a:rPr lang="ru-RU" dirty="0" err="1">
                <a:effectLst/>
              </a:rPr>
              <a:t>Object-oriented</a:t>
            </a:r>
            <a:r>
              <a:rPr lang="ru-RU" dirty="0">
                <a:effectLst/>
              </a:rPr>
              <a:t> </a:t>
            </a:r>
            <a:r>
              <a:rPr lang="ru-RU" dirty="0" smtClean="0">
                <a:effectLst/>
              </a:rPr>
              <a:t> </a:t>
            </a:r>
            <a:endParaRPr lang="ru-RU" dirty="0"/>
          </a:p>
        </p:txBody>
      </p:sp>
      <p:pic>
        <p:nvPicPr>
          <p:cNvPr id="4098" name="Picture 2" descr="MCj00787290000[1]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9615" y="2367282"/>
            <a:ext cx="3505200" cy="2952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8222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>
                <a:effectLst/>
              </a:rPr>
              <a:t>Hierarchical</a:t>
            </a:r>
            <a:r>
              <a:rPr lang="ru-RU" i="1" dirty="0">
                <a:effectLst/>
              </a:rPr>
              <a:t> </a:t>
            </a:r>
            <a:r>
              <a:rPr lang="ru-RU" i="1" dirty="0" err="1">
                <a:effectLst/>
              </a:rPr>
              <a:t>Databases</a:t>
            </a:r>
            <a:endParaRPr lang="ru-RU" dirty="0"/>
          </a:p>
        </p:txBody>
      </p:sp>
      <p:pic>
        <p:nvPicPr>
          <p:cNvPr id="5122" name="Picture 2" descr="Fig11-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7008" y="2222779"/>
            <a:ext cx="9567333" cy="3946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9512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ffectLst/>
              </a:rPr>
              <a:t>Relational</a:t>
            </a:r>
            <a:r>
              <a:rPr lang="ru-RU" dirty="0" smtClean="0">
                <a:effectLst/>
              </a:rPr>
              <a:t> </a:t>
            </a:r>
            <a:r>
              <a:rPr lang="ru-RU" dirty="0" err="1">
                <a:effectLst/>
              </a:rPr>
              <a:t>Databases</a:t>
            </a:r>
            <a:endParaRPr lang="ru-RU" dirty="0"/>
          </a:p>
        </p:txBody>
      </p:sp>
      <p:pic>
        <p:nvPicPr>
          <p:cNvPr id="6146" name="Picture 2" descr="Designing a Relational Database and Creating an Entity Relationship Diagram  | by Craig Dickson | Towards Data Science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487" y="1935921"/>
            <a:ext cx="4231212" cy="369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680705" y="2612418"/>
            <a:ext cx="5141361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ru-RU" dirty="0"/>
              <a:t>Holds data in a group of tables that can be related to one another by columns they have in common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ru-RU" dirty="0"/>
              <a:t>Column headings are called </a:t>
            </a:r>
            <a:r>
              <a:rPr lang="en-US" altLang="ru-RU" dirty="0">
                <a:solidFill>
                  <a:schemeClr val="accent1"/>
                </a:solidFill>
              </a:rPr>
              <a:t>field names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ru-RU" dirty="0"/>
              <a:t>Rows are called </a:t>
            </a:r>
            <a:r>
              <a:rPr lang="en-US" altLang="ru-RU" dirty="0">
                <a:solidFill>
                  <a:schemeClr val="accent1"/>
                </a:solidFill>
              </a:rPr>
              <a:t>records</a:t>
            </a:r>
            <a:r>
              <a:rPr lang="en-US" altLang="ru-RU" dirty="0"/>
              <a:t>, which are made up of individual </a:t>
            </a:r>
            <a:r>
              <a:rPr lang="en-US" altLang="ru-RU" dirty="0">
                <a:solidFill>
                  <a:schemeClr val="accent1"/>
                </a:solidFill>
              </a:rPr>
              <a:t>fields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ru-RU" dirty="0"/>
              <a:t>Each row of data can be identified uniquely by the content of one or more fields </a:t>
            </a:r>
            <a:r>
              <a:rPr lang="en-US" altLang="ru-RU" dirty="0">
                <a:solidFill>
                  <a:schemeClr val="accent1"/>
                </a:solidFill>
              </a:rPr>
              <a:t>(primary key)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ru-RU" dirty="0"/>
              <a:t>Result of a database search is called a </a:t>
            </a:r>
            <a:r>
              <a:rPr lang="en-US" altLang="ru-RU" dirty="0">
                <a:solidFill>
                  <a:schemeClr val="accent1"/>
                </a:solidFill>
              </a:rPr>
              <a:t>query</a:t>
            </a:r>
            <a:endParaRPr lang="en-US" altLang="ru-RU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1049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>
                <a:effectLst/>
              </a:rPr>
              <a:t>Object-oriented</a:t>
            </a:r>
            <a:r>
              <a:rPr lang="en-US" dirty="0">
                <a:effectLst/>
              </a:rPr>
              <a:t> </a:t>
            </a:r>
            <a:r>
              <a:rPr lang="en-US" dirty="0" err="1" smtClean="0">
                <a:effectLst/>
              </a:rPr>
              <a:t>DataBase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78419" y="2481198"/>
            <a:ext cx="51931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ru-RU" dirty="0" smtClean="0"/>
              <a:t>Holds objects such as BLOB (Binary Large Object) data types that hold video clips, graphics, photographs, and other large binary data</a:t>
            </a:r>
            <a:endParaRPr lang="en-US" altLang="ru-RU" dirty="0"/>
          </a:p>
        </p:txBody>
      </p:sp>
      <p:pic>
        <p:nvPicPr>
          <p:cNvPr id="7170" name="Picture 2" descr="Know The Difference-Learn How Object Oriented Database is different from  RDBMS - ODBMS Fac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0319" y="2083885"/>
            <a:ext cx="5417237" cy="357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5557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u-RU" sz="3200" dirty="0"/>
              <a:t>Use SQL (Structured Query Language) </a:t>
            </a:r>
            <a:r>
              <a:rPr lang="en-US" altLang="ru-RU" sz="3200" dirty="0" smtClean="0"/>
              <a:t/>
            </a:r>
            <a:br>
              <a:rPr lang="en-US" altLang="ru-RU" sz="3200" dirty="0" smtClean="0"/>
            </a:br>
            <a:r>
              <a:rPr lang="en-US" altLang="ru-RU" sz="3200" dirty="0" smtClean="0"/>
              <a:t>to </a:t>
            </a:r>
            <a:r>
              <a:rPr lang="en-US" altLang="ru-RU" sz="3200" dirty="0"/>
              <a:t>Access Data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13794" y="2746175"/>
            <a:ext cx="5290236" cy="3695136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ru-RU" dirty="0"/>
              <a:t>The standard for the command set used to interface with most databases</a:t>
            </a:r>
          </a:p>
          <a:p>
            <a:pPr>
              <a:lnSpc>
                <a:spcPct val="90000"/>
              </a:lnSpc>
            </a:pPr>
            <a:r>
              <a:rPr lang="en-US" altLang="ru-RU" dirty="0"/>
              <a:t>Database engine</a:t>
            </a:r>
          </a:p>
          <a:p>
            <a:pPr lvl="1">
              <a:lnSpc>
                <a:spcPct val="90000"/>
              </a:lnSpc>
            </a:pPr>
            <a:r>
              <a:rPr lang="en-US" altLang="ru-RU" dirty="0"/>
              <a:t>Applications software that provides a user with an interface to the DBMS</a:t>
            </a:r>
          </a:p>
          <a:p>
            <a:pPr>
              <a:lnSpc>
                <a:spcPct val="90000"/>
              </a:lnSpc>
            </a:pPr>
            <a:r>
              <a:rPr lang="en-US" altLang="ru-RU" dirty="0"/>
              <a:t>Database server</a:t>
            </a:r>
          </a:p>
          <a:p>
            <a:pPr lvl="1">
              <a:lnSpc>
                <a:spcPct val="90000"/>
              </a:lnSpc>
            </a:pPr>
            <a:r>
              <a:rPr lang="en-US" altLang="ru-RU" dirty="0"/>
              <a:t>Computer that contains the database and the </a:t>
            </a:r>
            <a:r>
              <a:rPr lang="en-US" altLang="ru-RU" dirty="0" smtClean="0"/>
              <a:t>DBMS</a:t>
            </a:r>
            <a:endParaRPr lang="en-US" altLang="ru-RU" dirty="0"/>
          </a:p>
        </p:txBody>
      </p:sp>
      <p:pic>
        <p:nvPicPr>
          <p:cNvPr id="8194" name="Picture 2" descr="3) Архитектура SQL Server - CoderLessons.co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4030" y="1935921"/>
            <a:ext cx="5368262" cy="4193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1924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u-RU" dirty="0"/>
              <a:t>Summary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77724" y="2512753"/>
            <a:ext cx="10001131" cy="4096392"/>
          </a:xfrm>
        </p:spPr>
        <p:txBody>
          <a:bodyPr/>
          <a:lstStyle/>
          <a:p>
            <a:r>
              <a:rPr lang="en-US" altLang="ru-RU" sz="2800" dirty="0"/>
              <a:t>Type of databases (based on relationship of the data)</a:t>
            </a:r>
          </a:p>
          <a:p>
            <a:r>
              <a:rPr lang="en-US" altLang="ru-RU" sz="2800" dirty="0"/>
              <a:t>Database models (based on management software)</a:t>
            </a:r>
          </a:p>
          <a:p>
            <a:r>
              <a:rPr lang="en-US" altLang="ru-RU" sz="2800" dirty="0"/>
              <a:t>How to access the database (SQL)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97326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67497" y="2542572"/>
            <a:ext cx="10353761" cy="1326321"/>
          </a:xfrm>
        </p:spPr>
        <p:txBody>
          <a:bodyPr/>
          <a:lstStyle/>
          <a:p>
            <a:r>
              <a:rPr lang="en-US" dirty="0"/>
              <a:t>Thank for attention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87671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Дамаск</Template>
  <TotalTime>57</TotalTime>
  <Words>214</Words>
  <Application>Microsoft Office PowerPoint</Application>
  <PresentationFormat>Широкоэкранный</PresentationFormat>
  <Paragraphs>31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Bookman Old Style</vt:lpstr>
      <vt:lpstr>Rockwell</vt:lpstr>
      <vt:lpstr>Damask</vt:lpstr>
      <vt:lpstr>TYPES OF DATABASES</vt:lpstr>
      <vt:lpstr>Objectives</vt:lpstr>
      <vt:lpstr>What is a database?</vt:lpstr>
      <vt:lpstr>Types of databases (Data rerelationship)</vt:lpstr>
      <vt:lpstr>Hierarchical Databases</vt:lpstr>
      <vt:lpstr>Relational Databases</vt:lpstr>
      <vt:lpstr>Object-oriented DataBase</vt:lpstr>
      <vt:lpstr>Use SQL (Structured Query Language)  to Access Data</vt:lpstr>
      <vt:lpstr>Summary</vt:lpstr>
      <vt:lpstr>Thank for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TYPES OF DATABASES</dc:title>
  <dc:creator>Пользователь Windows</dc:creator>
  <cp:lastModifiedBy>Пользователь Windows</cp:lastModifiedBy>
  <cp:revision>5</cp:revision>
  <dcterms:created xsi:type="dcterms:W3CDTF">2020-12-24T07:25:49Z</dcterms:created>
  <dcterms:modified xsi:type="dcterms:W3CDTF">2020-12-24T08:23:31Z</dcterms:modified>
</cp:coreProperties>
</file>